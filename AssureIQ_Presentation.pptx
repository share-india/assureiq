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011680"/>
            <a:ext cx="109728" cy="2743200"/>
          </a:xfrm>
          <a:prstGeom prst="rect">
            <a:avLst/>
          </a:prstGeom>
          <a:solidFill>
            <a:srgbClr val="F26C25"/>
          </a:solidFill>
          <a:ln>
            <a:solidFill>
              <a:srgbClr val="F26C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8288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6400" b="1">
                <a:solidFill>
                  <a:srgbClr val="FFFFFF"/>
                </a:solidFill>
                <a:latin typeface="Arial"/>
              </a:defRPr>
            </a:pPr>
            <a:r>
              <a:t>ASSUREIQ</a:t>
            </a:r>
          </a:p>
          <a:p>
            <a:pPr>
              <a:spcAft>
                <a:spcPts val="2000"/>
              </a:spcAft>
              <a:defRPr sz="2400" b="1">
                <a:solidFill>
                  <a:srgbClr val="F26C25"/>
                </a:solidFill>
                <a:latin typeface="Arial"/>
              </a:defRPr>
            </a:pPr>
            <a:r>
              <a:t>Intelligent Corporate Insurance Underwriting &amp; Risk Assessment</a:t>
            </a:r>
          </a:p>
          <a:p>
            <a:pPr>
              <a:defRPr sz="1600">
                <a:solidFill>
                  <a:srgbClr val="F8FAFC"/>
                </a:solidFill>
                <a:latin typeface="Arial"/>
              </a:defRPr>
            </a:pPr>
            <a:r>
              <a:t>Automating financial data extraction, policy matching, and premium estimation.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E1C36"/>
                </a:solidFill>
                <a:latin typeface="Arial"/>
              </a:defRPr>
            </a:pPr>
            <a:r>
              <a:t>About the AssureIQ Project</a:t>
            </a:r>
          </a:p>
          <a:p>
            <a:pPr>
              <a:spcAft>
                <a:spcPts val="2000"/>
              </a:spcAft>
              <a:defRPr sz="1400">
                <a:solidFill>
                  <a:srgbClr val="F26C25"/>
                </a:solidFill>
                <a:latin typeface="Arial"/>
              </a:defRPr>
            </a:pPr>
            <a:r>
              <a:t>Transforming manual corporate risk evaluation into a streamlined digital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3200400" cy="411480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2834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0E1C36"/>
                </a:solidFill>
                <a:latin typeface="Arial"/>
              </a:defRPr>
            </a:pPr>
            <a:r>
              <a:t>PROJECT MISSION</a:t>
            </a:r>
          </a:p>
          <a:p>
            <a:pPr>
              <a:defRPr sz="1400">
                <a:solidFill>
                  <a:srgbClr val="1E293B"/>
                </a:solidFill>
                <a:latin typeface="Arial"/>
              </a:defRPr>
            </a:pPr>
            <a:r>
              <a:t>To eliminate manual document review bottlenecks by instantly extracting key financial parameters from corporate annual reports using artificial intelligence.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0560" y="1828800"/>
            <a:ext cx="3200400" cy="411480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0" y="2011680"/>
            <a:ext cx="2834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0E1C36"/>
                </a:solidFill>
                <a:latin typeface="Arial"/>
              </a:defRPr>
            </a:pPr>
            <a:r>
              <a:t>THE PROBLEM IT SOLVES</a:t>
            </a:r>
          </a:p>
          <a:p>
            <a:pPr>
              <a:defRPr sz="1400">
                <a:solidFill>
                  <a:srgbClr val="1E293B"/>
                </a:solidFill>
                <a:latin typeface="Arial"/>
              </a:defRPr>
            </a:pPr>
            <a:r>
              <a:t>Traditional underwriting takes days to manually analyze 100+ page financial reports, leading to delayed policy quotes and human error risks.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828800"/>
            <a:ext cx="3200400" cy="411480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2011680"/>
            <a:ext cx="2834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0E1C36"/>
                </a:solidFill>
                <a:latin typeface="Arial"/>
              </a:defRPr>
            </a:pPr>
            <a:r>
              <a:t>WHO BENEFITS</a:t>
            </a:r>
          </a:p>
          <a:p>
            <a:pPr>
              <a:defRPr sz="1400">
                <a:solidFill>
                  <a:srgbClr val="1E293B"/>
                </a:solidFill>
                <a:latin typeface="Arial"/>
              </a:defRPr>
            </a:pPr>
            <a:r>
              <a:t>Insurance underwriters, commercial risk assessors, and sales executives who need instant policy recommendations and transparent premium calculations.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E1C36"/>
                </a:solidFill>
                <a:latin typeface="Arial"/>
              </a:defRPr>
            </a:pPr>
            <a:r>
              <a:t>How the Application Works</a:t>
            </a:r>
          </a:p>
          <a:p>
            <a:pPr>
              <a:spcAft>
                <a:spcPts val="2000"/>
              </a:spcAft>
              <a:defRPr sz="1400">
                <a:solidFill>
                  <a:srgbClr val="F26C25"/>
                </a:solidFill>
                <a:latin typeface="Arial"/>
              </a:defRPr>
            </a:pPr>
            <a:r>
              <a:t>End-to-end user workflow from document upload to policy quote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2377440" cy="411480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011680"/>
            <a:ext cx="2103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26C25"/>
                </a:solidFill>
                <a:latin typeface="Arial"/>
              </a:defRPr>
            </a:pPr>
            <a:r>
              <a:t>STEP 1</a:t>
            </a:r>
          </a:p>
          <a:p>
            <a:pPr>
              <a:spcAft>
                <a:spcPts val="1500"/>
              </a:spcAft>
              <a:defRPr sz="1600" b="1">
                <a:solidFill>
                  <a:srgbClr val="0E1C36"/>
                </a:solidFill>
                <a:latin typeface="Arial"/>
              </a:defRPr>
            </a:pPr>
            <a:r>
              <a:t>Upload Document</a:t>
            </a:r>
          </a:p>
          <a:p>
            <a:pPr>
              <a:defRPr sz="1300">
                <a:solidFill>
                  <a:srgbClr val="1E293B"/>
                </a:solidFill>
                <a:latin typeface="Arial"/>
              </a:defRPr>
            </a:pPr>
            <a:r>
              <a:t>User uploads corporate annual financial report (PDF). Built-in duplicate checks prevent uploading identical files.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566160" y="1828800"/>
            <a:ext cx="2377440" cy="411480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03320" y="2011680"/>
            <a:ext cx="2103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26C25"/>
                </a:solidFill>
                <a:latin typeface="Arial"/>
              </a:defRPr>
            </a:pPr>
            <a:r>
              <a:t>STEP 2</a:t>
            </a:r>
          </a:p>
          <a:p>
            <a:pPr>
              <a:spcAft>
                <a:spcPts val="1500"/>
              </a:spcAft>
              <a:defRPr sz="1600" b="1">
                <a:solidFill>
                  <a:srgbClr val="0E1C36"/>
                </a:solidFill>
                <a:latin typeface="Arial"/>
              </a:defRPr>
            </a:pPr>
            <a:r>
              <a:t>AI Auto-Extraction</a:t>
            </a:r>
          </a:p>
          <a:p>
            <a:pPr>
              <a:defRPr sz="1300">
                <a:solidFill>
                  <a:srgbClr val="1E293B"/>
                </a:solidFill>
                <a:latin typeface="Arial"/>
              </a:defRPr>
            </a:pPr>
            <a:r>
              <a:t>Smart AI engine parses 100+ pages in under 40s to automatically identify turnover, assets, liabilities, and employee scale.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828800"/>
            <a:ext cx="2377440" cy="411480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2011680"/>
            <a:ext cx="2103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26C25"/>
                </a:solidFill>
                <a:latin typeface="Arial"/>
              </a:defRPr>
            </a:pPr>
            <a:r>
              <a:t>STEP 3</a:t>
            </a:r>
          </a:p>
          <a:p>
            <a:pPr>
              <a:spcAft>
                <a:spcPts val="1500"/>
              </a:spcAft>
              <a:defRPr sz="1600" b="1">
                <a:solidFill>
                  <a:srgbClr val="0E1C36"/>
                </a:solidFill>
                <a:latin typeface="Arial"/>
              </a:defRPr>
            </a:pPr>
            <a:r>
              <a:t>Policy &amp; Premium Match</a:t>
            </a:r>
          </a:p>
          <a:p>
            <a:pPr>
              <a:defRPr sz="1300">
                <a:solidFill>
                  <a:srgbClr val="1E293B"/>
                </a:solidFill>
                <a:latin typeface="Arial"/>
              </a:defRPr>
            </a:pPr>
            <a:r>
              <a:t>Application matches company profile against rate rules, calculating recommended coverages (Property, Liability, Cyber, Fleet, D&amp;O).</a:t>
            </a:r>
          </a:p>
        </p:txBody>
      </p:sp>
      <p:sp>
        <p:nvSpPr>
          <p:cNvPr id="9" name="Rectangle 8"/>
          <p:cNvSpPr/>
          <p:nvPr/>
        </p:nvSpPr>
        <p:spPr>
          <a:xfrm>
            <a:off x="8869680" y="1828800"/>
            <a:ext cx="2377440" cy="411480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06840" y="2011680"/>
            <a:ext cx="2103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26C25"/>
                </a:solidFill>
                <a:latin typeface="Arial"/>
              </a:defRPr>
            </a:pPr>
            <a:r>
              <a:t>STEP 4</a:t>
            </a:r>
          </a:p>
          <a:p>
            <a:pPr>
              <a:spcAft>
                <a:spcPts val="1500"/>
              </a:spcAft>
              <a:defRPr sz="1600" b="1">
                <a:solidFill>
                  <a:srgbClr val="0E1C36"/>
                </a:solidFill>
                <a:latin typeface="Arial"/>
              </a:defRPr>
            </a:pPr>
            <a:r>
              <a:t>Dashboard &amp; PDF Report</a:t>
            </a:r>
          </a:p>
          <a:p>
            <a:pPr>
              <a:defRPr sz="1300">
                <a:solidFill>
                  <a:srgbClr val="1E293B"/>
                </a:solidFill>
                <a:latin typeface="Arial"/>
              </a:defRPr>
            </a:pPr>
            <a:r>
              <a:t>Underwriter views interactive risk score charts, transparent calculation formulas, and exports a print-ready PDF assessment report.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E1C36"/>
                </a:solidFill>
                <a:latin typeface="Arial"/>
              </a:defRPr>
            </a:pPr>
            <a:r>
              <a:t>Four Stages of Data Sourcing</a:t>
            </a:r>
          </a:p>
          <a:p>
            <a:pPr>
              <a:spcAft>
                <a:spcPts val="2000"/>
              </a:spcAft>
              <a:defRPr sz="1400">
                <a:solidFill>
                  <a:srgbClr val="F26C25"/>
                </a:solidFill>
                <a:latin typeface="Arial"/>
              </a:defRPr>
            </a:pPr>
            <a:r>
              <a:t>Multi-channel data capture roadmap to complete corporate risk profiles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2377440" cy="411480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011680"/>
            <a:ext cx="2103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0E1C36"/>
                </a:solidFill>
                <a:latin typeface="Arial"/>
              </a:defRPr>
            </a:pPr>
            <a:r>
              <a:t>STAGE 1</a:t>
            </a:r>
          </a:p>
          <a:p>
            <a:pPr>
              <a:spcAft>
                <a:spcPts val="1000"/>
              </a:spcAft>
              <a:defRPr sz="1600" b="1">
                <a:solidFill>
                  <a:srgbClr val="0E1C36"/>
                </a:solidFill>
                <a:latin typeface="Arial"/>
              </a:defRPr>
            </a:pPr>
            <a:r>
              <a:t>Data from Document</a:t>
            </a:r>
          </a:p>
          <a:p>
            <a:pPr>
              <a:spcAft>
                <a:spcPts val="1500"/>
              </a:spcAft>
              <a:defRPr sz="1300" b="1">
                <a:solidFill>
                  <a:srgbClr val="22C55E"/>
                </a:solidFill>
                <a:latin typeface="Arial"/>
              </a:defRPr>
            </a:pPr>
            <a:r>
              <a:t>• COMPLETED</a:t>
            </a:r>
          </a:p>
          <a:p>
            <a:pPr>
              <a:defRPr sz="1200">
                <a:solidFill>
                  <a:srgbClr val="1E293B"/>
                </a:solidFill>
                <a:latin typeface="Arial"/>
              </a:defRPr>
            </a:pPr>
            <a:r>
              <a:t>Extracted directly from annual reports, balance sheets, and audit filings. (Fully operational in current version).</a:t>
            </a:r>
          </a:p>
        </p:txBody>
      </p:sp>
      <p:sp>
        <p:nvSpPr>
          <p:cNvPr id="5" name="Rectangle 4"/>
          <p:cNvSpPr/>
          <p:nvPr/>
        </p:nvSpPr>
        <p:spPr>
          <a:xfrm>
            <a:off x="3566160" y="1828800"/>
            <a:ext cx="2377440" cy="411480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03320" y="2011680"/>
            <a:ext cx="2103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0E1C36"/>
                </a:solidFill>
                <a:latin typeface="Arial"/>
              </a:defRPr>
            </a:pPr>
            <a:r>
              <a:t>STAGE 2</a:t>
            </a:r>
          </a:p>
          <a:p>
            <a:pPr>
              <a:spcAft>
                <a:spcPts val="1000"/>
              </a:spcAft>
              <a:defRPr sz="1600" b="1">
                <a:solidFill>
                  <a:srgbClr val="0E1C36"/>
                </a:solidFill>
                <a:latin typeface="Arial"/>
              </a:defRPr>
            </a:pPr>
            <a:r>
              <a:t>Data from Internet</a:t>
            </a:r>
          </a:p>
          <a:p>
            <a:pPr>
              <a:spcAft>
                <a:spcPts val="1500"/>
              </a:spcAft>
              <a:defRPr sz="1300" b="1">
                <a:solidFill>
                  <a:srgbClr val="F26C25"/>
                </a:solidFill>
                <a:latin typeface="Arial"/>
              </a:defRPr>
            </a:pPr>
            <a:r>
              <a:t>• FUTURE PHASE</a:t>
            </a:r>
          </a:p>
          <a:p>
            <a:pPr>
              <a:defRPr sz="1200">
                <a:solidFill>
                  <a:srgbClr val="1E293B"/>
                </a:solidFill>
                <a:latin typeface="Arial"/>
              </a:defRPr>
            </a:pPr>
            <a:r>
              <a:t>Automated fetching of company registration data, web credit scores, and market news from public web databases.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828800"/>
            <a:ext cx="2377440" cy="411480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2011680"/>
            <a:ext cx="2103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0E1C36"/>
                </a:solidFill>
                <a:latin typeface="Arial"/>
              </a:defRPr>
            </a:pPr>
            <a:r>
              <a:t>STAGE 3</a:t>
            </a:r>
          </a:p>
          <a:p>
            <a:pPr>
              <a:spcAft>
                <a:spcPts val="1000"/>
              </a:spcAft>
              <a:defRPr sz="1600" b="1">
                <a:solidFill>
                  <a:srgbClr val="0E1C36"/>
                </a:solidFill>
                <a:latin typeface="Arial"/>
              </a:defRPr>
            </a:pPr>
            <a:r>
              <a:t>Data from AI</a:t>
            </a:r>
          </a:p>
          <a:p>
            <a:pPr>
              <a:spcAft>
                <a:spcPts val="1500"/>
              </a:spcAft>
              <a:defRPr sz="1300" b="1">
                <a:solidFill>
                  <a:srgbClr val="F26C25"/>
                </a:solidFill>
                <a:latin typeface="Arial"/>
              </a:defRPr>
            </a:pPr>
            <a:r>
              <a:t>• FUTURE PHASE</a:t>
            </a:r>
          </a:p>
          <a:p>
            <a:pPr>
              <a:defRPr sz="1200">
                <a:solidFill>
                  <a:srgbClr val="1E293B"/>
                </a:solidFill>
                <a:latin typeface="Arial"/>
              </a:defRPr>
            </a:pPr>
            <a:r>
              <a:t>Predictive AI estimation models to automatically fill missing financial indicators based on industry benchmarks.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869680" y="1828800"/>
            <a:ext cx="2377440" cy="411480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06840" y="2011680"/>
            <a:ext cx="2103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0E1C36"/>
                </a:solidFill>
                <a:latin typeface="Arial"/>
              </a:defRPr>
            </a:pPr>
            <a:r>
              <a:t>STAGE 4</a:t>
            </a:r>
          </a:p>
          <a:p>
            <a:pPr>
              <a:spcAft>
                <a:spcPts val="1000"/>
              </a:spcAft>
              <a:defRPr sz="1600" b="1">
                <a:solidFill>
                  <a:srgbClr val="0E1C36"/>
                </a:solidFill>
                <a:latin typeface="Arial"/>
              </a:defRPr>
            </a:pPr>
            <a:r>
              <a:t>Data from Manual Fill</a:t>
            </a:r>
          </a:p>
          <a:p>
            <a:pPr>
              <a:spcAft>
                <a:spcPts val="1500"/>
              </a:spcAft>
              <a:defRPr sz="1300" b="1">
                <a:solidFill>
                  <a:srgbClr val="F26C25"/>
                </a:solidFill>
                <a:latin typeface="Arial"/>
              </a:defRPr>
            </a:pPr>
            <a:r>
              <a:t>• FUTURE PHASE</a:t>
            </a:r>
          </a:p>
          <a:p>
            <a:pPr>
              <a:defRPr sz="1200">
                <a:solidFill>
                  <a:srgbClr val="1E293B"/>
                </a:solidFill>
                <a:latin typeface="Arial"/>
              </a:defRPr>
            </a:pPr>
            <a:r>
              <a:t>Direct user input forms allowing underwriters to review, adjust, or manually supply missing metrics.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Strategic Suggestions &amp; Next Steps</a:t>
            </a:r>
          </a:p>
          <a:p>
            <a:pPr>
              <a:spcAft>
                <a:spcPts val="2000"/>
              </a:spcAft>
              <a:defRPr sz="1400">
                <a:solidFill>
                  <a:srgbClr val="F26C25"/>
                </a:solidFill>
                <a:latin typeface="Arial"/>
              </a:defRPr>
            </a:pPr>
            <a:r>
              <a:t>Value-add recommendations to expand AssureIQ's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15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F26C25"/>
                </a:solidFill>
              </a:rPr>
              <a:t>Complete Multi-Stage Pipeline: </a:t>
            </a:r>
            <a:r>
              <a:rPr>
                <a:solidFill>
                  <a:srgbClr val="F8FAFC"/>
                </a:solidFill>
              </a:rPr>
              <a:t>Expand from Stage 1 into Stages 2, 3, and 4 to create a hybrid data collection model that ensures 100% complete client profiles.</a:t>
            </a:r>
          </a:p>
          <a:p>
            <a:pPr>
              <a:spcAft>
                <a:spcPts val="1500"/>
              </a:spcAft>
              <a:defRPr sz="15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F26C25"/>
                </a:solidFill>
              </a:rPr>
              <a:t>Multi-Company Risk Benchmarking: </a:t>
            </a:r>
            <a:r>
              <a:rPr>
                <a:solidFill>
                  <a:srgbClr val="F8FAFC"/>
                </a:solidFill>
              </a:rPr>
              <a:t>Introduce portfolio-wide comparative analytics to allow underwriters to rank and assess risk across multiple client accounts simultaneously.</a:t>
            </a:r>
          </a:p>
          <a:p>
            <a:pPr>
              <a:spcAft>
                <a:spcPts val="1500"/>
              </a:spcAft>
              <a:defRPr sz="15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F26C25"/>
                </a:solidFill>
              </a:rPr>
              <a:t>Direct Insurer API Sync: </a:t>
            </a:r>
            <a:r>
              <a:rPr>
                <a:solidFill>
                  <a:srgbClr val="F8FAFC"/>
                </a:solidFill>
              </a:rPr>
              <a:t>Integrate policy booking APIs to allow immediate bind-and-issue capabilities directly from the recommendation dashboard.</a:t>
            </a:r>
          </a:p>
          <a:p>
            <a:pPr>
              <a:spcAft>
                <a:spcPts val="1500"/>
              </a:spcAft>
              <a:defRPr sz="15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F26C25"/>
                </a:solidFill>
              </a:rPr>
              <a:t>Enhanced Underwriting Customization: </a:t>
            </a:r>
            <a:r>
              <a:rPr>
                <a:solidFill>
                  <a:srgbClr val="F8FAFC"/>
                </a:solidFill>
              </a:rPr>
              <a:t>Provide underwriters with custom rating rule editors to adjust policy multipliers based on market conditions.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